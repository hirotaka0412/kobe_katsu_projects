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b0bf8eddb4d57" /><Relationship Type="http://schemas.openxmlformats.org/officeDocument/2006/relationships/extended-properties" Target="/docProps/app.xml" Id="Rf0eff73d27884fff" /><Relationship Type="http://schemas.openxmlformats.org/officeDocument/2006/relationships/officeDocument" Target="/ppt/presentation.xml" Id="R0e99dd85c753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db1077503499e"/>
  </p:sldMasterIdLst>
  <p:notesMasterIdLst>
    <p:notesMasterId xmlns:r="http://schemas.openxmlformats.org/officeDocument/2006/relationships" r:id="R668d74af4a9c4d3d"/>
  </p:notesMasterIdLst>
  <p:sldIdLst>
    <p:sldId xmlns:r="http://schemas.openxmlformats.org/officeDocument/2006/relationships" id="256" r:id="Re3ccfad33ba84267"/>
    <p:sldId xmlns:r="http://schemas.openxmlformats.org/officeDocument/2006/relationships" id="257" r:id="Ra39519d99da5464c"/>
    <p:sldId xmlns:r="http://schemas.openxmlformats.org/officeDocument/2006/relationships" id="258" r:id="Rf1e2d1628f2c4972"/>
    <p:sldId xmlns:r="http://schemas.openxmlformats.org/officeDocument/2006/relationships" id="259" r:id="R88452878cfca4caa"/>
    <p:sldId xmlns:r="http://schemas.openxmlformats.org/officeDocument/2006/relationships" id="260" r:id="Rb2b0e265361947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1d21a51c841e8" /><Relationship Type="http://schemas.openxmlformats.org/officeDocument/2006/relationships/slideMaster" Target="/ppt/slideMasters/slideMaster1.xml" Id="Ra4adb1077503499e" /><Relationship Type="http://schemas.openxmlformats.org/officeDocument/2006/relationships/notesMaster" Target="/ppt/notesMasters/notesMaster1.xml" Id="R668d74af4a9c4d3d" /><Relationship Type="http://schemas.openxmlformats.org/officeDocument/2006/relationships/presProps" Target="/ppt/presProps.xml" Id="Rc9d889dc28a4416d" /><Relationship Type="http://schemas.openxmlformats.org/officeDocument/2006/relationships/tableStyles" Target="/ppt/tableStyles.xml" Id="Re7046f68432248e0" /><Relationship Type="http://schemas.openxmlformats.org/officeDocument/2006/relationships/slide" Target="/ppt/slides/slide1.xml" Id="Re3ccfad33ba84267" /><Relationship Type="http://schemas.openxmlformats.org/officeDocument/2006/relationships/slide" Target="/ppt/slides/slide2.xml" Id="Ra39519d99da5464c" /><Relationship Type="http://schemas.openxmlformats.org/officeDocument/2006/relationships/slide" Target="/ppt/slides/slide3.xml" Id="Rf1e2d1628f2c4972" /><Relationship Type="http://schemas.openxmlformats.org/officeDocument/2006/relationships/slide" Target="/ppt/slides/slide4.xml" Id="R88452878cfca4caa" /><Relationship Type="http://schemas.openxmlformats.org/officeDocument/2006/relationships/slide" Target="/ppt/slides/slide5.xml" Id="Rb2b0e2653619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65a7bcdc54b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19c1f7f054d51" /><Relationship Type="http://schemas.openxmlformats.org/officeDocument/2006/relationships/notesMaster" Target="/ppt/notesMasters/notesMaster1.xml" Id="R6302595eef03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5a859ef454ced" /><Relationship Type="http://schemas.openxmlformats.org/officeDocument/2006/relationships/notesMaster" Target="/ppt/notesMasters/notesMaster1.xml" Id="R19d4710e619c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5941da46049af" /><Relationship Type="http://schemas.openxmlformats.org/officeDocument/2006/relationships/notesMaster" Target="/ppt/notesMasters/notesMaster1.xml" Id="R91fb41faac5b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6f3e61a154bbd" /><Relationship Type="http://schemas.openxmlformats.org/officeDocument/2006/relationships/notesMaster" Target="/ppt/notesMasters/notesMaster1.xml" Id="R406b1e37e1314c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20b89b1cf4dd9" /><Relationship Type="http://schemas.openxmlformats.org/officeDocument/2006/relationships/notesMaster" Target="/ppt/notesMasters/notesMaster1.xml" Id="R048f81d5ed94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今日のゴールは、ターミナルの役割を知り、画面を見てUbuntuとEV3のどちらを操作中か判断できるようになることです。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https://chatgpt.com/share/6a6e38da-316c-83ee-99d4-7acfc2f72235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ターミナル・シェル・コマンドは同じ言葉ではありません。ただし初心者向けには、ターミナルが文字の窓、シェルが通訳、コマンドが命令、と捉えると十分です。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https://documentation.ubuntu.com/desktop/en/latest/tutorial/the-linux-command-line-for-beginners/</a:t>
            </a:r>
          </a:p>
          <a:p xmlns:a="http://schemas.openxmlformats.org/drawingml/2006/main">
            <a:r>
              <a:t>- https://www.gnu.org/software/bash/manual/html_node/What-is-a-shell_003f.html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共有チャットでは robot@ev3dev:~/projects$ の状態で、Ubuntu側だけに設定された ev3 という接続名を使ってscpを実行したため、接続先を解決できませんでした。失敗はターミナルの場所を見分ける練習材料になります。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https://chatgpt.com/share/6a6e38da-316c-83ee-99d4-7acfc2f72235</a:t>
            </a:r>
          </a:p>
          <a:p xmlns:a="http://schemas.openxmlformats.org/drawingml/2006/main">
            <a:r>
              <a:t>- https://documentation.ubuntu.com/desktop/en/latest/tutorial/the-linux-command-line-for-beginners/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ev3 はUbuntu側の ~/.ssh/config に登録した短縮名です。設定していない環境では robot@ev3dev.local を使います。scpはUbuntu側で実行し、sshでログインした後のpython3はEV3側で実行します。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https://chatgpt.com/share/6a6e38da-316c-83ee-99d4-7acfc2f72235</a:t>
            </a:r>
          </a:p>
          <a:p xmlns:a="http://schemas.openxmlformats.org/drawingml/2006/main">
            <a:r>
              <a:t>- https://man.openbsd.org/cgi-bin/man.cgi/OpenBSD-current/man1/ssh.1</a:t>
            </a:r>
          </a:p>
          <a:p xmlns:a="http://schemas.openxmlformats.org/drawingml/2006/main">
            <a:r>
              <a:t>- https://man.openbsd.org/scp.1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最後に、プロンプト・現在地・コマンドの3点を声に出して確認します。ターミナルは怖い画面ではなく、場所を確認しながら使うための文字の操作窓です。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https://documentation.ubuntu.com/desktop/en/latest/tutorial/the-linux-command-line-for-beginners/</a:t>
            </a:r>
          </a:p>
          <a:p xmlns:a="http://schemas.openxmlformats.org/drawingml/2006/main">
            <a:r>
              <a:t>- https://chatgpt.com/share/6a6e38da-316c-83ee-99d4-7acfc2f72235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e7331b5bb45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e8a61cefd47ec" /><Relationship Type="http://schemas.openxmlformats.org/officeDocument/2006/relationships/slideLayout" Target="/ppt/slideLayouts/slideLayout1.xml" Id="R3ef6eb5539a5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6eb5539a5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f6b7213584205" /><Relationship Type="http://schemas.openxmlformats.org/officeDocument/2006/relationships/notesSlide" Target="/ppt/notesSlides/notesSlide1.xml" Id="Rc098be5940574c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2814e603c4882" /><Relationship Type="http://schemas.openxmlformats.org/officeDocument/2006/relationships/notesSlide" Target="/ppt/notesSlides/notesSlide2.xml" Id="R6b7bd786fc8e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3ac8e827e429d" /><Relationship Type="http://schemas.openxmlformats.org/officeDocument/2006/relationships/notesSlide" Target="/ppt/notesSlides/notesSlide3.xml" Id="R5ad2901eb1b2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0e67bc944cd9" /><Relationship Type="http://schemas.openxmlformats.org/officeDocument/2006/relationships/notesSlide" Target="/ppt/notesSlides/notesSlide4.xml" Id="R6e17bd04eedb4f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bfd4170f94396" /><Relationship Type="http://schemas.openxmlformats.org/officeDocument/2006/relationships/notesSlide" Target="/ppt/notesSlides/notesSlide5.xml" Id="Rd2434835522e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3D04DB7-4EDE-4E56-9E41-0FC89F42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EV3実習｜5分入門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50870B9C-4A65-4281-8462-58B67993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KOBE KATSU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AE4A88D-630E-4BFC-862E-1CC1DCE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52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C94A8A-D2DE-42E0-8BA9-E1E90E4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00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ターミナルって、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何をする場所？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F87EC59-1A85-411F-8E4E-5BE5ECE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EV3実習で迷わないための基礎</a:t>
            </a:r>
          </a:p>
        </p:txBody>
      </p:sp>
      <p:sp>
        <p:nvSpPr>
          <p:cNvPr id="6" name="cover-prompt">
            <a:extLst xmlns:a="http://schemas.openxmlformats.org/drawingml/2006/main">
              <a:ext uri="{FF2B5EF4-FFF2-40B4-BE49-F238E27FC236}">
                <a16:creationId xmlns:a16="http://schemas.microsoft.com/office/drawing/2014/main" id="{6E7A522D-4C29-4AED-9466-AE50C991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8DF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3D8DFF"/>
                </a:solidFill>
                <a:latin typeface="Courier New"/>
                <a:ea typeface="Courier New"/>
                <a:cs typeface="Courier New"/>
              </a:rPr>
              <a:t>$ いま、どのコンピュータに命令している？</a:t>
            </a:r>
          </a:p>
        </p:txBody>
      </p:sp>
    </p:spTree>
    <p:extLst>
      <p:ext uri="{BB962C8B-B14F-4D97-AF65-F5344CB8AC3E}">
        <p14:creationId xmlns:p14="http://schemas.microsoft.com/office/powerpoint/2010/main" val="410275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DC8CF68-F804-42C4-AF0B-C6C8865F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ターミナルは、文字でコンピュータに指示を出す窓</a:t>
            </a:r>
          </a:p>
        </p:txBody>
      </p:sp>
      <p:cxnSp>
        <p:nvCxnSpPr>
          <p:cNvPr id="21" name="slide-2-title-rule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919327F1-A3FF-487B-8246-8C3A3CC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19D1F1BC-CA7E-47CE-AA3F-7546244D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入力した文字をシェルが読み取り、コマンドを実行して結果を返します。</a:t>
            </a:r>
          </a:p>
        </p:txBody>
      </p:sp>
      <p:cxnSp>
        <p:nvCxnSpPr>
          <p:cNvPr id="24" name="s2-01-rule"/>
          <p:cNvCxnSpPr/>
          <p:nvPr/>
        </p:nvCxnSpPr>
        <p:spPr>
          <a:xfrm xmlns:a="http://schemas.openxmlformats.org/drawingml/2006/main">
            <a:off x="457200" y="29146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s2-01-title">
            <a:extLst xmlns:a="http://schemas.openxmlformats.org/drawingml/2006/main">
              <a:ext uri="{FF2B5EF4-FFF2-40B4-BE49-F238E27FC236}">
                <a16:creationId xmlns:a16="http://schemas.microsoft.com/office/drawing/2014/main" id="{B86BC746-4F84-47FC-BF62-ABDB885A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01　ターミナル</a:t>
            </a:r>
          </a:p>
        </p:txBody>
      </p:sp>
      <p:sp>
        <p:nvSpPr>
          <p:cNvPr id="7" name="s2-01-body">
            <a:extLst xmlns:a="http://schemas.openxmlformats.org/drawingml/2006/main">
              <a:ext uri="{FF2B5EF4-FFF2-40B4-BE49-F238E27FC236}">
                <a16:creationId xmlns:a16="http://schemas.microsoft.com/office/drawing/2014/main" id="{390C1570-F6A6-45AB-BF66-EF36DFC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文字を入力し、</a:t>
            </a:r>
          </a:p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結果を見るための窓</a:t>
            </a:r>
          </a:p>
        </p:txBody>
      </p:sp>
      <p:sp>
        <p:nvSpPr>
          <p:cNvPr id="8" name="s2-01-example">
            <a:extLst xmlns:a="http://schemas.openxmlformats.org/drawingml/2006/main">
              <a:ext uri="{FF2B5EF4-FFF2-40B4-BE49-F238E27FC236}">
                <a16:creationId xmlns:a16="http://schemas.microsoft.com/office/drawing/2014/main" id="{8212B76F-CB1E-4E4C-8CFD-196F3A8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入力と表示</a:t>
            </a:r>
          </a:p>
        </p:txBody>
      </p:sp>
      <p:cxnSp>
        <p:nvCxnSpPr>
          <p:cNvPr id="28" name="s2-02-rule"/>
          <p:cNvCxnSpPr/>
          <p:nvPr/>
        </p:nvCxnSpPr>
        <p:spPr>
          <a:xfrm xmlns:a="http://schemas.openxmlformats.org/drawingml/2006/main">
            <a:off x="4305300" y="29146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0" name="s2-02-title">
            <a:extLst xmlns:a="http://schemas.openxmlformats.org/drawingml/2006/main">
              <a:ext uri="{FF2B5EF4-FFF2-40B4-BE49-F238E27FC236}">
                <a16:creationId xmlns:a16="http://schemas.microsoft.com/office/drawing/2014/main" id="{74AAF935-6675-41D8-B0CC-96295A3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02　シェル</a:t>
            </a:r>
          </a:p>
        </p:txBody>
      </p:sp>
      <p:sp>
        <p:nvSpPr>
          <p:cNvPr id="11" name="s2-02-body">
            <a:extLst xmlns:a="http://schemas.openxmlformats.org/drawingml/2006/main">
              <a:ext uri="{FF2B5EF4-FFF2-40B4-BE49-F238E27FC236}">
                <a16:creationId xmlns:a16="http://schemas.microsoft.com/office/drawing/2014/main" id="{45D077BF-F5FC-4FF8-A341-F1E39801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入力した命令を読み取り、</a:t>
            </a:r>
          </a:p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実行を取り次ぐ係</a:t>
            </a:r>
          </a:p>
        </p:txBody>
      </p:sp>
      <p:sp>
        <p:nvSpPr>
          <p:cNvPr id="12" name="s2-02-example">
            <a:extLst xmlns:a="http://schemas.openxmlformats.org/drawingml/2006/main">
              <a:ext uri="{FF2B5EF4-FFF2-40B4-BE49-F238E27FC236}">
                <a16:creationId xmlns:a16="http://schemas.microsoft.com/office/drawing/2014/main" id="{1133F6F1-2F2E-40D4-B69A-4C1A344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Ubuntuでは主に Bash</a:t>
            </a:r>
          </a:p>
        </p:txBody>
      </p:sp>
      <p:cxnSp>
        <p:nvCxnSpPr>
          <p:cNvPr id="32" name="s2-03-rule"/>
          <p:cNvCxnSpPr/>
          <p:nvPr/>
        </p:nvCxnSpPr>
        <p:spPr>
          <a:xfrm xmlns:a="http://schemas.openxmlformats.org/drawingml/2006/main">
            <a:off x="8153400" y="29146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4" name="s2-03-title">
            <a:extLst xmlns:a="http://schemas.openxmlformats.org/drawingml/2006/main">
              <a:ext uri="{FF2B5EF4-FFF2-40B4-BE49-F238E27FC236}">
                <a16:creationId xmlns:a16="http://schemas.microsoft.com/office/drawing/2014/main" id="{A1187458-52A8-4C27-AB17-9E1E5DB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03　コマンド</a:t>
            </a:r>
          </a:p>
        </p:txBody>
      </p:sp>
      <p:sp>
        <p:nvSpPr>
          <p:cNvPr id="15" name="s2-03-body">
            <a:extLst xmlns:a="http://schemas.openxmlformats.org/drawingml/2006/main">
              <a:ext uri="{FF2B5EF4-FFF2-40B4-BE49-F238E27FC236}">
                <a16:creationId xmlns:a16="http://schemas.microsoft.com/office/drawing/2014/main" id="{F3ED3B2A-E823-4B6F-A2B1-7F707FB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コンピュータにしてほしい</a:t>
            </a:r>
          </a:p>
          <a:p xmlns:a="http://schemas.openxmlformats.org/drawingml/2006/main">
            <a:pPr algn="l">
              <a:def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具体的な命令</a:t>
            </a:r>
          </a:p>
        </p:txBody>
      </p:sp>
      <p:sp>
        <p:nvSpPr>
          <p:cNvPr id="16" name="s2-03-example">
            <a:extLst xmlns:a="http://schemas.openxmlformats.org/drawingml/2006/main">
              <a:ext uri="{FF2B5EF4-FFF2-40B4-BE49-F238E27FC236}">
                <a16:creationId xmlns:a16="http://schemas.microsoft.com/office/drawing/2014/main" id="{943AF5ED-BAA4-4E00-9292-AFEE1638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958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ls / cd / python3</a:t>
            </a:r>
          </a:p>
        </p:txBody>
      </p:sp>
      <p:sp>
        <p:nvSpPr>
          <p:cNvPr id="17" name="s2-example-panel">
            <a:extLst xmlns:a="http://schemas.openxmlformats.org/drawingml/2006/main">
              <a:ext uri="{FF2B5EF4-FFF2-40B4-BE49-F238E27FC236}">
                <a16:creationId xmlns:a16="http://schemas.microsoft.com/office/drawing/2014/main" id="{03E18E75-D2AB-4A24-955D-89ADD9F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2-example-code">
            <a:extLst xmlns:a="http://schemas.openxmlformats.org/drawingml/2006/main">
              <a:ext uri="{FF2B5EF4-FFF2-40B4-BE49-F238E27FC236}">
                <a16:creationId xmlns:a16="http://schemas.microsoft.com/office/drawing/2014/main" id="{8751BA39-CB7D-4850-B52E-ABA0284F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3D8DFF"/>
                </a:solidFill>
                <a:latin typeface="Courier New"/>
                <a:ea typeface="Courier New"/>
                <a:cs typeface="Courier New"/>
              </a:rPr>
              <a:t>$ ls</a:t>
            </a:r>
          </a:p>
        </p:txBody>
      </p:sp>
      <p:sp>
        <p:nvSpPr>
          <p:cNvPr id="19" name="s2-example-output">
            <a:extLst xmlns:a="http://schemas.openxmlformats.org/drawingml/2006/main">
              <a:ext uri="{FF2B5EF4-FFF2-40B4-BE49-F238E27FC236}">
                <a16:creationId xmlns:a16="http://schemas.microsoft.com/office/drawing/2014/main" id="{7698E106-78E8-4305-96A1-BA33B596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3405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beep_test.py   motor_test.py   run_ev3.sh</a:t>
            </a:r>
          </a:p>
        </p:txBody>
      </p:sp>
    </p:spTree>
    <p:extLst>
      <p:ext uri="{BB962C8B-B14F-4D97-AF65-F5344CB8AC3E}">
        <p14:creationId xmlns:p14="http://schemas.microsoft.com/office/powerpoint/2010/main" val="230633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7DE73B7-817B-4240-9CBF-E60ECBE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プロンプトを見れば、いま操作している相手がわかる</a:t>
            </a:r>
          </a:p>
        </p:txBody>
      </p:sp>
      <p:cxnSp>
        <p:nvCxnSpPr>
          <p:cNvPr id="18" name="slide-3-title-rule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90F6707F-1DDD-437B-916D-B904FC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EE14D4E6-EDAC-4DDF-8248-586D45BA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まず見るのは、@ の右側にあるコンピュータ名です。</a:t>
            </a:r>
          </a:p>
        </p:txBody>
      </p:sp>
      <p:sp>
        <p:nvSpPr>
          <p:cNvPr id="5" name="s3-left-label">
            <a:extLst xmlns:a="http://schemas.openxmlformats.org/drawingml/2006/main">
              <a:ext uri="{FF2B5EF4-FFF2-40B4-BE49-F238E27FC236}">
                <a16:creationId xmlns:a16="http://schemas.microsoft.com/office/drawing/2014/main" id="{2FD44504-241B-4F95-AEC8-AEB3E5A5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18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Ubuntu側</a:t>
            </a:r>
          </a:p>
        </p:txBody>
      </p:sp>
      <p:sp>
        <p:nvSpPr>
          <p:cNvPr id="6" name="s3-left-panel">
            <a:extLst xmlns:a="http://schemas.openxmlformats.org/drawingml/2006/main">
              <a:ext uri="{FF2B5EF4-FFF2-40B4-BE49-F238E27FC236}">
                <a16:creationId xmlns:a16="http://schemas.microsoft.com/office/drawing/2014/main" id="{48C1A3BA-E382-4F4B-90FD-0A28D2D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5181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3-left-host-highlight">
            <a:extLst xmlns:a="http://schemas.openxmlformats.org/drawingml/2006/main">
              <a:ext uri="{FF2B5EF4-FFF2-40B4-BE49-F238E27FC236}">
                <a16:creationId xmlns:a16="http://schemas.microsoft.com/office/drawing/2014/main" id="{7FE9AC2F-0BE6-42B5-8FE2-A61D171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1114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3-left-prompt">
            <a:extLst xmlns:a="http://schemas.openxmlformats.org/drawingml/2006/main">
              <a:ext uri="{FF2B5EF4-FFF2-40B4-BE49-F238E27FC236}">
                <a16:creationId xmlns:a16="http://schemas.microsoft.com/office/drawing/2014/main" id="{C3210B42-D85F-441E-86D1-FAC6798A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hiro@ubuntu:~/ev3-project$</a:t>
            </a:r>
          </a:p>
        </p:txBody>
      </p:sp>
      <p:sp>
        <p:nvSpPr>
          <p:cNvPr id="9" name="s3-left-explain">
            <a:extLst xmlns:a="http://schemas.openxmlformats.org/drawingml/2006/main">
              <a:ext uri="{FF2B5EF4-FFF2-40B4-BE49-F238E27FC236}">
                <a16:creationId xmlns:a16="http://schemas.microsoft.com/office/drawing/2014/main" id="{93A87B84-A6D3-453E-B3A0-D092C1F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18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ubuntu ＝ ノートPC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ここで scp・ssh を実行</a:t>
            </a:r>
          </a:p>
        </p:txBody>
      </p:sp>
      <p:sp>
        <p:nvSpPr>
          <p:cNvPr id="10" name="s3-right-label">
            <a:extLst xmlns:a="http://schemas.openxmlformats.org/drawingml/2006/main">
              <a:ext uri="{FF2B5EF4-FFF2-40B4-BE49-F238E27FC236}">
                <a16:creationId xmlns:a16="http://schemas.microsoft.com/office/drawing/2014/main" id="{B36B8A19-0969-4EE2-BBAE-783EA42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41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EV3側</a:t>
            </a:r>
          </a:p>
        </p:txBody>
      </p:sp>
      <p:sp>
        <p:nvSpPr>
          <p:cNvPr id="11" name="s3-right-panel">
            <a:extLst xmlns:a="http://schemas.openxmlformats.org/drawingml/2006/main">
              <a:ext uri="{FF2B5EF4-FFF2-40B4-BE49-F238E27FC236}">
                <a16:creationId xmlns:a16="http://schemas.microsoft.com/office/drawing/2014/main" id="{271E7321-C911-4012-813D-6832997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541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3-right-host-highlight">
            <a:extLst xmlns:a="http://schemas.openxmlformats.org/drawingml/2006/main">
              <a:ext uri="{FF2B5EF4-FFF2-40B4-BE49-F238E27FC236}">
                <a16:creationId xmlns:a16="http://schemas.microsoft.com/office/drawing/2014/main" id="{123A3D2C-4BAD-4BF2-AAC9-DAD8EB0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4650"/>
            <a:ext cx="1114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3-right-prompt">
            <a:extLst xmlns:a="http://schemas.openxmlformats.org/drawingml/2006/main">
              <a:ext uri="{FF2B5EF4-FFF2-40B4-BE49-F238E27FC236}">
                <a16:creationId xmlns:a16="http://schemas.microsoft.com/office/drawing/2014/main" id="{CFED0342-25AE-4257-873C-B7B2508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robot@ev3dev:~/projects$</a:t>
            </a:r>
          </a:p>
        </p:txBody>
      </p:sp>
      <p:sp>
        <p:nvSpPr>
          <p:cNvPr id="14" name="s3-right-explain">
            <a:extLst xmlns:a="http://schemas.openxmlformats.org/drawingml/2006/main">
              <a:ext uri="{FF2B5EF4-FFF2-40B4-BE49-F238E27FC236}">
                <a16:creationId xmlns:a16="http://schemas.microsoft.com/office/drawing/2014/main" id="{87D68D0A-3A66-4C8E-AB62-6FA6C53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41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ev3dev ＝ EV3本体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ここで python3 を実行</a:t>
            </a:r>
          </a:p>
        </p:txBody>
      </p:sp>
      <p:sp>
        <p:nvSpPr>
          <p:cNvPr id="15" name="s3-callout-panel">
            <a:extLst xmlns:a="http://schemas.openxmlformats.org/drawingml/2006/main">
              <a:ext uri="{FF2B5EF4-FFF2-40B4-BE49-F238E27FC236}">
                <a16:creationId xmlns:a16="http://schemas.microsoft.com/office/drawing/2014/main" id="{28A3975D-C31C-4454-ADA5-17B90D1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3-callout">
            <a:extLst xmlns:a="http://schemas.openxmlformats.org/drawingml/2006/main">
              <a:ext uri="{FF2B5EF4-FFF2-40B4-BE49-F238E27FC236}">
                <a16:creationId xmlns:a16="http://schemas.microsoft.com/office/drawing/2014/main" id="{6678B0A2-5691-4F53-8AD7-4EAD2B9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迷ったら、コマンドを打つ前に  @ の右側  を確認しよう。</a:t>
            </a:r>
          </a:p>
        </p:txBody>
      </p:sp>
    </p:spTree>
    <p:extLst>
      <p:ext uri="{BB962C8B-B14F-4D97-AF65-F5344CB8AC3E}">
        <p14:creationId xmlns:p14="http://schemas.microsoft.com/office/powerpoint/2010/main" val="1993150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82265BE-1D47-44B4-BCC3-5F7D130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EV3実習では、UbuntuとEV3を行き来する</a:t>
            </a:r>
          </a:p>
        </p:txBody>
      </p:sp>
      <p:cxnSp>
        <p:nvCxnSpPr>
          <p:cNvPr id="27" name="slide-4-title-rule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02E9ED08-0954-4F4F-99BA-A62A1A5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" name="s4-lead">
            <a:extLst xmlns:a="http://schemas.openxmlformats.org/drawingml/2006/main">
              <a:ext uri="{FF2B5EF4-FFF2-40B4-BE49-F238E27FC236}">
                <a16:creationId xmlns:a16="http://schemas.microsoft.com/office/drawing/2014/main" id="{87C671E9-8155-4DC2-9D4A-D118A849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同じターミナルでも、接続前と接続後では命令を受け取る相手が変わります。</a:t>
            </a:r>
          </a:p>
        </p:txBody>
      </p:sp>
      <p:cxnSp>
        <p:nvCxnSpPr>
          <p:cNvPr id="30" name="s4-timeline"/>
          <p:cNvCxnSpPr/>
          <p:nvPr/>
        </p:nvCxnSpPr>
        <p:spPr>
          <a:xfrm xmlns:a="http://schemas.openxmlformats.org/drawingml/2006/main">
            <a:off x="876300" y="31432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1" name="s4-return-line"/>
          <p:cNvCxnSpPr/>
          <p:nvPr/>
        </p:nvCxnSpPr>
        <p:spPr>
          <a:xfrm xmlns:a="http://schemas.openxmlformats.org/drawingml/2006/main">
            <a:off x="2381250" y="552450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7" name="s4-step-1-dot">
            <a:extLst xmlns:a="http://schemas.openxmlformats.org/drawingml/2006/main">
              <a:ext uri="{FF2B5EF4-FFF2-40B4-BE49-F238E27FC236}">
                <a16:creationId xmlns:a16="http://schemas.microsoft.com/office/drawing/2014/main" id="{3D67584B-C68E-467C-842A-12D70CE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4-step-1-label">
            <a:extLst xmlns:a="http://schemas.openxmlformats.org/drawingml/2006/main">
              <a:ext uri="{FF2B5EF4-FFF2-40B4-BE49-F238E27FC236}">
                <a16:creationId xmlns:a16="http://schemas.microsoft.com/office/drawing/2014/main" id="{D78E8E91-8004-4890-90F5-4958679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1｜Ubuntu側</a:t>
            </a:r>
          </a:p>
        </p:txBody>
      </p:sp>
      <p:sp>
        <p:nvSpPr>
          <p:cNvPr id="9" name="s4-step-1-title">
            <a:extLst xmlns:a="http://schemas.openxmlformats.org/drawingml/2006/main">
              <a:ext uri="{FF2B5EF4-FFF2-40B4-BE49-F238E27FC236}">
                <a16:creationId xmlns:a16="http://schemas.microsoft.com/office/drawing/2014/main" id="{6CC776F1-6D67-4631-BB6C-6E6B8034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ファイルを送る</a:t>
            </a:r>
          </a:p>
        </p:txBody>
      </p:sp>
      <p:sp>
        <p:nvSpPr>
          <p:cNvPr id="10" name="s4-step-1-panel">
            <a:extLst xmlns:a="http://schemas.openxmlformats.org/drawingml/2006/main">
              <a:ext uri="{FF2B5EF4-FFF2-40B4-BE49-F238E27FC236}">
                <a16:creationId xmlns:a16="http://schemas.microsoft.com/office/drawing/2014/main" id="{CC4FBAE5-8E28-4D16-BFC4-CB9E036C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4-step-1-code">
            <a:extLst xmlns:a="http://schemas.openxmlformats.org/drawingml/2006/main">
              <a:ext uri="{FF2B5EF4-FFF2-40B4-BE49-F238E27FC236}">
                <a16:creationId xmlns:a16="http://schemas.microsoft.com/office/drawing/2014/main" id="{61CD212C-D183-4EE5-A7C5-E9402245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$ scp test01.py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ev3:~/projects/</a:t>
            </a:r>
          </a:p>
        </p:txBody>
      </p:sp>
      <p:sp>
        <p:nvSpPr>
          <p:cNvPr id="12" name="s4-step-1-note">
            <a:extLst xmlns:a="http://schemas.openxmlformats.org/drawingml/2006/main">
              <a:ext uri="{FF2B5EF4-FFF2-40B4-BE49-F238E27FC236}">
                <a16:creationId xmlns:a16="http://schemas.microsoft.com/office/drawing/2014/main" id="{2C783D81-FF1A-454C-9D1B-06CCE02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scp＝安全なファイル転送</a:t>
            </a:r>
          </a:p>
        </p:txBody>
      </p:sp>
      <p:sp>
        <p:nvSpPr>
          <p:cNvPr id="13" name="s4-step-2-dot">
            <a:extLst xmlns:a="http://schemas.openxmlformats.org/drawingml/2006/main">
              <a:ext uri="{FF2B5EF4-FFF2-40B4-BE49-F238E27FC236}">
                <a16:creationId xmlns:a16="http://schemas.microsoft.com/office/drawing/2014/main" id="{7B1A4293-D791-4853-9245-0C673A7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4-step-2-label">
            <a:extLst xmlns:a="http://schemas.openxmlformats.org/drawingml/2006/main">
              <a:ext uri="{FF2B5EF4-FFF2-40B4-BE49-F238E27FC236}">
                <a16:creationId xmlns:a16="http://schemas.microsoft.com/office/drawing/2014/main" id="{8FEC16C2-F740-4B04-8993-5526998A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2｜Ubuntu側</a:t>
            </a:r>
          </a:p>
        </p:txBody>
      </p:sp>
      <p:sp>
        <p:nvSpPr>
          <p:cNvPr id="15" name="s4-step-2-title">
            <a:extLst xmlns:a="http://schemas.openxmlformats.org/drawingml/2006/main">
              <a:ext uri="{FF2B5EF4-FFF2-40B4-BE49-F238E27FC236}">
                <a16:creationId xmlns:a16="http://schemas.microsoft.com/office/drawing/2014/main" id="{E9A68DC3-A2C2-4969-BDB2-34BBD909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EV3へ接続する</a:t>
            </a:r>
          </a:p>
        </p:txBody>
      </p:sp>
      <p:sp>
        <p:nvSpPr>
          <p:cNvPr id="16" name="s4-step-2-panel">
            <a:extLst xmlns:a="http://schemas.openxmlformats.org/drawingml/2006/main">
              <a:ext uri="{FF2B5EF4-FFF2-40B4-BE49-F238E27FC236}">
                <a16:creationId xmlns:a16="http://schemas.microsoft.com/office/drawing/2014/main" id="{A8EF70A0-47C4-4D92-A693-E4D8BFA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4-step-2-code">
            <a:extLst xmlns:a="http://schemas.openxmlformats.org/drawingml/2006/main">
              <a:ext uri="{FF2B5EF4-FFF2-40B4-BE49-F238E27FC236}">
                <a16:creationId xmlns:a16="http://schemas.microsoft.com/office/drawing/2014/main" id="{8DAC8712-78C6-4BDA-85BF-AEA2EB07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$ ssh ev3</a:t>
            </a:r>
          </a:p>
        </p:txBody>
      </p:sp>
      <p:sp>
        <p:nvSpPr>
          <p:cNvPr id="18" name="s4-step-2-note">
            <a:extLst xmlns:a="http://schemas.openxmlformats.org/drawingml/2006/main">
              <a:ext uri="{FF2B5EF4-FFF2-40B4-BE49-F238E27FC236}">
                <a16:creationId xmlns:a16="http://schemas.microsoft.com/office/drawing/2014/main" id="{8C02A1AB-1C4D-4099-9527-ABFBE17E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ここから操作先がEV3になる</a:t>
            </a:r>
          </a:p>
        </p:txBody>
      </p:sp>
      <p:sp>
        <p:nvSpPr>
          <p:cNvPr id="19" name="s4-step-3-dot">
            <a:extLst xmlns:a="http://schemas.openxmlformats.org/drawingml/2006/main">
              <a:ext uri="{FF2B5EF4-FFF2-40B4-BE49-F238E27FC236}">
                <a16:creationId xmlns:a16="http://schemas.microsoft.com/office/drawing/2014/main" id="{6EB32089-D5B7-4288-9430-4998F33A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4-step-3-label">
            <a:extLst xmlns:a="http://schemas.openxmlformats.org/drawingml/2006/main">
              <a:ext uri="{FF2B5EF4-FFF2-40B4-BE49-F238E27FC236}">
                <a16:creationId xmlns:a16="http://schemas.microsoft.com/office/drawing/2014/main" id="{82FBBF80-FBF2-444E-AEF4-5F2AF0C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3｜EV3側</a:t>
            </a:r>
          </a:p>
        </p:txBody>
      </p:sp>
      <p:sp>
        <p:nvSpPr>
          <p:cNvPr id="21" name="s4-step-3-title">
            <a:extLst xmlns:a="http://schemas.openxmlformats.org/drawingml/2006/main">
              <a:ext uri="{FF2B5EF4-FFF2-40B4-BE49-F238E27FC236}">
                <a16:creationId xmlns:a16="http://schemas.microsoft.com/office/drawing/2014/main" id="{ABD57B87-40D0-48B3-AFD1-466CABEF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Pythonを実行する</a:t>
            </a:r>
          </a:p>
        </p:txBody>
      </p:sp>
      <p:sp>
        <p:nvSpPr>
          <p:cNvPr id="22" name="s4-step-3-panel">
            <a:extLst xmlns:a="http://schemas.openxmlformats.org/drawingml/2006/main">
              <a:ext uri="{FF2B5EF4-FFF2-40B4-BE49-F238E27FC236}">
                <a16:creationId xmlns:a16="http://schemas.microsoft.com/office/drawing/2014/main" id="{A1FEB67D-E3A9-4131-972D-94494E0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148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4-step-3-code">
            <a:extLst xmlns:a="http://schemas.openxmlformats.org/drawingml/2006/main">
              <a:ext uri="{FF2B5EF4-FFF2-40B4-BE49-F238E27FC236}">
                <a16:creationId xmlns:a16="http://schemas.microsoft.com/office/drawing/2014/main" id="{A5802B4F-428C-49C1-BB71-D80D6D1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$ cd ~/projects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$ python3 test01.py</a:t>
            </a:r>
          </a:p>
        </p:txBody>
      </p:sp>
      <p:sp>
        <p:nvSpPr>
          <p:cNvPr id="24" name="s4-step-3-note">
            <a:extLst xmlns:a="http://schemas.openxmlformats.org/drawingml/2006/main">
              <a:ext uri="{FF2B5EF4-FFF2-40B4-BE49-F238E27FC236}">
                <a16:creationId xmlns:a16="http://schemas.microsoft.com/office/drawing/2014/main" id="{5FFD95FE-E7B1-47D7-845C-A25BF04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exit でUbuntu側へ戻る</a:t>
            </a:r>
          </a:p>
        </p:txBody>
      </p:sp>
      <p:sp>
        <p:nvSpPr>
          <p:cNvPr id="25" name="s4-return-label">
            <a:extLst xmlns:a="http://schemas.openxmlformats.org/drawingml/2006/main">
              <a:ext uri="{FF2B5EF4-FFF2-40B4-BE49-F238E27FC236}">
                <a16:creationId xmlns:a16="http://schemas.microsoft.com/office/drawing/2014/main" id="{A58EF696-EB87-4EB4-BF59-D425DCD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78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exit で戻る</a:t>
            </a:r>
          </a:p>
        </p:txBody>
      </p:sp>
    </p:spTree>
    <p:extLst>
      <p:ext uri="{BB962C8B-B14F-4D97-AF65-F5344CB8AC3E}">
        <p14:creationId xmlns:p14="http://schemas.microsoft.com/office/powerpoint/2010/main" val="1629866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5FB6BBC-A933-45F0-BC1F-17BAB7E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コマンドを打つ前に、3つを確認</a:t>
            </a:r>
          </a:p>
        </p:txBody>
      </p:sp>
      <p:cxnSp>
        <p:nvCxnSpPr>
          <p:cNvPr id="22" name="slide-5-title-rule"/>
          <p:cNvCxnSpPr/>
          <p:nvPr/>
        </p:nvCxn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3380FB3D-61BC-4F86-AD5A-3A2A23B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4" name="s5-left-kicker">
            <a:extLst xmlns:a="http://schemas.openxmlformats.org/drawingml/2006/main">
              <a:ext uri="{FF2B5EF4-FFF2-40B4-BE49-F238E27FC236}">
                <a16:creationId xmlns:a16="http://schemas.microsoft.com/office/drawing/2014/main" id="{8DC18B2C-234E-4BB0-ABED-D33B6B7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迷ったときの合言葉</a:t>
            </a:r>
          </a:p>
        </p:txBody>
      </p:sp>
      <p:sp>
        <p:nvSpPr>
          <p:cNvPr id="5" name="s5-left-message">
            <a:extLst xmlns:a="http://schemas.openxmlformats.org/drawingml/2006/main">
              <a:ext uri="{FF2B5EF4-FFF2-40B4-BE49-F238E27FC236}">
                <a16:creationId xmlns:a16="http://schemas.microsoft.com/office/drawing/2014/main" id="{958C7C04-38A6-4849-8589-814F806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どのPC？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どの場所？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何をする？</a:t>
            </a:r>
          </a:p>
        </p:txBody>
      </p:sp>
      <p:sp>
        <p:nvSpPr>
          <p:cNvPr id="6" name="s5-left-sub">
            <a:extLst xmlns:a="http://schemas.openxmlformats.org/drawingml/2006/main">
              <a:ext uri="{FF2B5EF4-FFF2-40B4-BE49-F238E27FC236}">
                <a16:creationId xmlns:a16="http://schemas.microsoft.com/office/drawing/2014/main" id="{4D81339C-8E80-480B-807C-4413C2F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急いで入力するより、</a:t>
            </a:r>
          </a:p>
          <a:p xmlns:a="http://schemas.openxmlformats.org/drawingml/2006/main">
            <a:pPr algn="l">
              <a:defRPr sz="202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10秒確認するほうが早い。</a:t>
            </a:r>
          </a:p>
        </p:txBody>
      </p:sp>
      <p:sp>
        <p:nvSpPr>
          <p:cNvPr id="7" name="s5-01-number">
            <a:extLst xmlns:a="http://schemas.openxmlformats.org/drawingml/2006/main">
              <a:ext uri="{FF2B5EF4-FFF2-40B4-BE49-F238E27FC236}">
                <a16:creationId xmlns:a16="http://schemas.microsoft.com/office/drawing/2014/main" id="{E9BEB140-1490-4815-867D-0139B33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cxnSp>
        <p:nvCxnSpPr>
          <p:cNvPr id="28" name="s5-01-rule"/>
          <p:cNvCxnSpPr/>
          <p:nvPr/>
        </p:nvCxnSpPr>
        <p:spPr>
          <a:xfrm xmlns:a="http://schemas.openxmlformats.org/drawingml/2006/main">
            <a:off x="6191250" y="3067050"/>
            <a:ext cx="508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5-01-title">
            <a:extLst xmlns:a="http://schemas.openxmlformats.org/drawingml/2006/main">
              <a:ext uri="{FF2B5EF4-FFF2-40B4-BE49-F238E27FC236}">
                <a16:creationId xmlns:a16="http://schemas.microsoft.com/office/drawing/2014/main" id="{CCD0B6B4-AC1A-4A54-B95C-8F5EE1D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プロンプト</a:t>
            </a:r>
          </a:p>
        </p:txBody>
      </p:sp>
      <p:sp>
        <p:nvSpPr>
          <p:cNvPr id="10" name="s5-01-body">
            <a:extLst xmlns:a="http://schemas.openxmlformats.org/drawingml/2006/main">
              <a:ext uri="{FF2B5EF4-FFF2-40B4-BE49-F238E27FC236}">
                <a16:creationId xmlns:a16="http://schemas.microsoft.com/office/drawing/2014/main" id="{9D514964-AE10-4276-AC9B-30C98EA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210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@ の右側で、UbuntuかEV3か確認</a:t>
            </a:r>
          </a:p>
        </p:txBody>
      </p:sp>
      <p:sp>
        <p:nvSpPr>
          <p:cNvPr id="11" name="s5-02-number">
            <a:extLst xmlns:a="http://schemas.openxmlformats.org/drawingml/2006/main">
              <a:ext uri="{FF2B5EF4-FFF2-40B4-BE49-F238E27FC236}">
                <a16:creationId xmlns:a16="http://schemas.microsoft.com/office/drawing/2014/main" id="{E76B4FE6-9B9E-450D-98A7-7C40651B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cxnSp>
        <p:nvCxnSpPr>
          <p:cNvPr id="32" name="s5-02-rule"/>
          <p:cNvCxnSpPr/>
          <p:nvPr/>
        </p:nvCxnSpPr>
        <p:spPr>
          <a:xfrm xmlns:a="http://schemas.openxmlformats.org/drawingml/2006/main">
            <a:off x="6191250" y="4381500"/>
            <a:ext cx="508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5-02-title">
            <a:extLst xmlns:a="http://schemas.openxmlformats.org/drawingml/2006/main">
              <a:ext uri="{FF2B5EF4-FFF2-40B4-BE49-F238E27FC236}">
                <a16:creationId xmlns:a16="http://schemas.microsoft.com/office/drawing/2014/main" id="{029C9B56-ABA9-4C7E-A532-E072419A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pwd・ls</a:t>
            </a:r>
          </a:p>
        </p:txBody>
      </p:sp>
      <p:sp>
        <p:nvSpPr>
          <p:cNvPr id="14" name="s5-02-body">
            <a:extLst xmlns:a="http://schemas.openxmlformats.org/drawingml/2006/main">
              <a:ext uri="{FF2B5EF4-FFF2-40B4-BE49-F238E27FC236}">
                <a16:creationId xmlns:a16="http://schemas.microsoft.com/office/drawing/2014/main" id="{7C840E91-3EBB-47A3-A68A-F11E6400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4210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現在の場所と、そこにあるファイルを確認</a:t>
            </a:r>
          </a:p>
        </p:txBody>
      </p:sp>
      <p:sp>
        <p:nvSpPr>
          <p:cNvPr id="15" name="s5-03-number">
            <a:extLst xmlns:a="http://schemas.openxmlformats.org/drawingml/2006/main">
              <a:ext uri="{FF2B5EF4-FFF2-40B4-BE49-F238E27FC236}">
                <a16:creationId xmlns:a16="http://schemas.microsoft.com/office/drawing/2014/main" id="{CB4C318B-0432-4411-9268-5B64E17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cxnSp>
        <p:nvCxnSpPr>
          <p:cNvPr id="36" name="s5-03-rule"/>
          <p:cNvCxnSpPr/>
          <p:nvPr/>
        </p:nvCxnSpPr>
        <p:spPr>
          <a:xfrm xmlns:a="http://schemas.openxmlformats.org/drawingml/2006/main">
            <a:off x="6191250" y="5695950"/>
            <a:ext cx="508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5-03-title">
            <a:extLst xmlns:a="http://schemas.openxmlformats.org/drawingml/2006/main">
              <a:ext uri="{FF2B5EF4-FFF2-40B4-BE49-F238E27FC236}">
                <a16:creationId xmlns:a16="http://schemas.microsoft.com/office/drawing/2014/main" id="{B762B848-C20B-477B-AE10-FB8C3E08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コマンド</a:t>
            </a:r>
          </a:p>
        </p:txBody>
      </p:sp>
      <p:sp>
        <p:nvSpPr>
          <p:cNvPr id="18" name="s5-03-body">
            <a:extLst xmlns:a="http://schemas.openxmlformats.org/drawingml/2006/main">
              <a:ext uri="{FF2B5EF4-FFF2-40B4-BE49-F238E27FC236}">
                <a16:creationId xmlns:a16="http://schemas.microsoft.com/office/drawing/2014/main" id="{6295BA5E-E746-4B72-9DAF-AFC65FF1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86350"/>
            <a:ext cx="4210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F6672"/>
                </a:solidFill>
                <a:latin typeface="Noto Sans JP"/>
                <a:ea typeface="Noto Sans JP"/>
                <a:cs typeface="Noto Sans JP"/>
              </a:rPr>
              <a:t>scp・ssh・python3の役割を確認</a:t>
            </a:r>
          </a:p>
        </p:txBody>
      </p:sp>
      <p:sp>
        <p:nvSpPr>
          <p:cNvPr id="19" name="s5-closing-panel">
            <a:extLst xmlns:a="http://schemas.openxmlformats.org/drawingml/2006/main">
              <a:ext uri="{FF2B5EF4-FFF2-40B4-BE49-F238E27FC236}">
                <a16:creationId xmlns:a16="http://schemas.microsoft.com/office/drawing/2014/main" id="{A00D5FA5-3667-4A3E-8673-E9F98443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082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5-closing">
            <a:extLst xmlns:a="http://schemas.openxmlformats.org/drawingml/2006/main">
              <a:ext uri="{FF2B5EF4-FFF2-40B4-BE49-F238E27FC236}">
                <a16:creationId xmlns:a16="http://schemas.microsoft.com/office/drawing/2014/main" id="{5A637568-D1A8-48D3-8C34-F1D0836C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043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ターミナルは、いまいる場所を確かめながら使う操作窓。</a:t>
            </a:r>
          </a:p>
        </p:txBody>
      </p:sp>
    </p:spTree>
    <p:extLst>
      <p:ext uri="{BB962C8B-B14F-4D97-AF65-F5344CB8AC3E}">
        <p14:creationId xmlns:p14="http://schemas.microsoft.com/office/powerpoint/2010/main" val="1457365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2026-08-01T18:42:29.5100000Z</dcterms:created>
  <dcterms:modified xsi:type="dcterms:W3CDTF">2026-08-01T18:42:29.5100000Z</dcterms:modified>
</coreProperties>
</file>